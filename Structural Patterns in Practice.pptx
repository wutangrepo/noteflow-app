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66" r:id="rId5"/>
    <p:sldId id="259" r:id="rId6"/>
    <p:sldId id="267" r:id="rId7"/>
    <p:sldId id="260" r:id="rId8"/>
    <p:sldId id="268" r:id="rId9"/>
    <p:sldId id="261" r:id="rId10"/>
    <p:sldId id="262" r:id="rId11"/>
    <p:sldId id="265" r:id="rId12"/>
    <p:sldId id="263" r:id="rId13"/>
    <p:sldId id="26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AD25B-2BF5-4B16-8ED7-36132117F56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C9BB3-C10A-4F07-97E2-C0B30F672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22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C9BB3-C10A-4F07-97E2-C0B30F672E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586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AB06-79BE-F8C6-52FE-E1285A661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DDB18-D994-D837-0160-66E1632E4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063CD-8B65-31BE-BEEF-44BFEB97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AF80-341D-82D6-C80C-28A93D7B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7B358-E58C-AB66-3C71-F2BD0632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91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8409-DC6C-0EEA-4755-FA202D72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2532-B1F1-40F9-8E2B-CB58F396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ACB1-CF49-E6BC-97BD-6ACDF05C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5D8B8-B7F6-9783-E137-477F5254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6D763-C842-78FA-7D58-7C74EE62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808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5DE9-F238-432B-2544-564A21E3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E8FC0-7508-1EF0-8B79-E29A3202F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DB9F3-878D-C095-4160-D469EC35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4B78B-7930-CB5D-2DFC-0F4485AB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9058C-09BF-DEB8-031C-AD929774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31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FBB5-DC58-0755-8E8F-8B1D1F1D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CCB97-F0A0-2068-A361-F4ADA6BD9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92573-1D84-FA10-84BA-8FDAA2FDB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1154B-218D-CF71-7AF4-697962A6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FF57F-14C4-ED45-FB36-5D023BCE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67CF9-24D8-720F-0216-331CF237B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55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1BF9-4C09-67EB-D5F1-34B34B3E8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C4826-76CF-81D3-6C5D-26DBEAAE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107B5-EE65-4590-8F03-9EEA5667E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31026-2AC8-60FD-4E77-B1BC6E08E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527356-82CA-F6E2-FDD9-7841AAC9F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80E7B-DD47-8AED-2045-672136B9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9389F-8346-1942-5D56-DE9AFA2E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933B6-2F7B-45C4-73A4-1615E706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87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C379-F427-C055-2517-7D9BF12A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519FB-6B47-2B43-D74F-39F4A6A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8A408-B843-BD33-4BCD-C1CA3CBD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037ED-D131-F61F-4734-318B05DB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785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22563-7FC4-3F56-52EE-9FF1AB7E3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B905A-4903-C601-2543-5C30B0341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3DF2C-5135-5B3A-7D03-2007243E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74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749D-E703-D794-5C62-D20DFA02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58BCC-85B5-C8EF-73A7-1CB77ABE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A124B-0AE4-FD63-25B6-439FBA222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785CF-FC52-8B87-17E2-6C9354CB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1092B-AD4A-466C-05A7-D8A6463A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02609-C762-C7E0-E37B-EB768E23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0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4C69-983F-61E0-DE90-173A835E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A77FA0-6B56-37D9-0ED2-268B403A0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CE598-421E-E257-A235-B7DBCD960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C7771-DE0E-54D3-4626-1FDBB62E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FFA57-38E9-F9BF-F532-D49067DA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714E6-3862-9DB0-786C-6B71C226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08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90BA-F602-0067-E0DB-F3B131A3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E00CF-8E93-978F-EA49-4FF5AE1F7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5A2B0-1425-6340-19DB-8FEADDDD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46783-6587-D72D-03AF-030CD8AD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A3395-F855-B911-5018-3118DAA4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18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D064C-4DE6-0FBE-FE88-EE740FD74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2956A-945A-0C87-8DD3-057A81AFE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4CD3-3F25-24DB-921E-AE40A559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1A0D7-7000-CD4D-B5F4-4F5D23F0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3957D-5DC3-B6EC-868C-7BD54BF0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47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9074E-5EF9-B6F5-54C9-7A6A2528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8DDE8-D6AA-E90B-94D4-567FF77CD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C3912-FC92-0B72-0409-D42EE49D8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AD7F1-5D02-430D-A18E-12EF520C5C34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E7B7-4C80-5AFD-E96C-AF30592C0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FDBBA-8AE5-1D73-EE66-FA874D9CA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2ECCD-5DAF-408A-B96E-DB673F21A8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2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F219-7F8F-218F-EFCC-34BFFF218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Structural Patterns in Practice: Adapter, Decorator, and Facade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3F807-B12F-0EDF-6053-BC961FD87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Improving Code Flexibility and Maintainability</a:t>
            </a:r>
          </a:p>
          <a:p>
            <a:endParaRPr lang="en-US" altLang="zh-CN" dirty="0"/>
          </a:p>
          <a:p>
            <a:pPr algn="l"/>
            <a:r>
              <a:rPr lang="en-IE" altLang="zh-CN" dirty="0"/>
              <a:t>Presenter: W</a:t>
            </a:r>
            <a:r>
              <a:rPr lang="en-US" altLang="zh-CN" dirty="0"/>
              <a:t>u</a:t>
            </a:r>
            <a:r>
              <a:rPr lang="en-IE" altLang="zh-CN" dirty="0"/>
              <a:t> Tang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149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326F-A6B0-20C4-D96B-A927AE49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altLang="zh-CN" b="1" dirty="0"/>
              <a:t>Introduction to Structural Patterns</a:t>
            </a:r>
            <a:br>
              <a:rPr lang="en-IE" altLang="zh-CN" b="1" dirty="0"/>
            </a:b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62C8F-F073-7161-12C5-F5BDF1AB3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Definition:</a:t>
            </a:r>
            <a:r>
              <a:rPr lang="en-US" altLang="zh-CN" dirty="0"/>
              <a:t> Structural design patterns explain how to assemble objects and classes into larger structures while keeping these structures flexible and efficient.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Key Concept:</a:t>
            </a:r>
            <a:r>
              <a:rPr lang="en-US" altLang="zh-CN" dirty="0"/>
              <a:t> They rely heavily on </a:t>
            </a:r>
            <a:r>
              <a:rPr lang="en-US" altLang="zh-CN" b="1" dirty="0"/>
              <a:t>Object Composition</a:t>
            </a:r>
            <a:r>
              <a:rPr lang="en-US" altLang="zh-CN" dirty="0"/>
              <a:t> (wrapping objects inside other objects) rather than Class Inheritance.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Why they matter:</a:t>
            </a:r>
            <a:endParaRPr lang="en-US" altLang="zh-CN" dirty="0"/>
          </a:p>
          <a:p>
            <a:pPr lvl="1"/>
            <a:r>
              <a:rPr lang="en-US" altLang="zh-CN" dirty="0"/>
              <a:t>They decouple the abstraction from implementation.</a:t>
            </a:r>
          </a:p>
          <a:p>
            <a:pPr lvl="1"/>
            <a:r>
              <a:rPr lang="en-US" altLang="zh-CN" dirty="0"/>
              <a:t>They make systems easier to scale.</a:t>
            </a:r>
          </a:p>
          <a:p>
            <a:pPr lvl="1"/>
            <a:r>
              <a:rPr lang="en-US" altLang="zh-CN" dirty="0"/>
              <a:t>They allow for changes in relationships between entities at runtime.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291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55D2-A423-B6BF-8051-8997A66D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b="1" dirty="0"/>
              <a:t> Pattern 1 – The Adapter Pattern</a:t>
            </a:r>
            <a:br>
              <a:rPr lang="en-US" altLang="zh-CN" b="1" dirty="0"/>
            </a:br>
            <a:r>
              <a:rPr lang="en-US" altLang="zh-CN" sz="2200" dirty="0"/>
              <a:t>Making Incompatible Interfaces Compatible</a:t>
            </a:r>
            <a:br>
              <a:rPr lang="en-US" altLang="zh-CN" b="1" dirty="0"/>
            </a:b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0355B-F72B-F69F-D91D-D09544243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02" y="1926358"/>
            <a:ext cx="483796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05CB4-E737-3BED-8FA9-596496B697A6}"/>
              </a:ext>
            </a:extLst>
          </p:cNvPr>
          <p:cNvSpPr txBox="1"/>
          <p:nvPr/>
        </p:nvSpPr>
        <p:spPr>
          <a:xfrm>
            <a:off x="0" y="1689923"/>
            <a:ext cx="72032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Key Points: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Purpose:</a:t>
            </a:r>
            <a:r>
              <a:rPr lang="en-US" altLang="zh-CN" dirty="0"/>
              <a:t> Allows objects with incompatible interfaces to collaborate. It acts as a bridge between two objects.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Real-world Analogy:</a:t>
            </a:r>
            <a:r>
              <a:rPr lang="en-US" altLang="zh-CN" dirty="0"/>
              <a:t> If you buy a laptop in Europe and travel to the US, you need an adapter. The adapter doesn't change the electricity; it changes the </a:t>
            </a:r>
            <a:r>
              <a:rPr lang="en-US" altLang="zh-CN" i="1" dirty="0"/>
              <a:t>shape</a:t>
            </a:r>
            <a:r>
              <a:rPr lang="en-US" altLang="zh-CN" dirty="0"/>
              <a:t> of the interface so the socket allows power to flow.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Software Application: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Using a legacy data XML system when your new application requires JSON.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Wrapping a 3rd party library so it matches your domain code.</a:t>
            </a:r>
          </a:p>
          <a:p>
            <a:pPr lvl="1"/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Mechanic:</a:t>
            </a:r>
            <a:r>
              <a:rPr lang="en-US" altLang="zh-CN" dirty="0"/>
              <a:t> The Adapter implements the interface expected by the client and wraps the instance of the class that has the incompatible interface</a:t>
            </a:r>
          </a:p>
          <a:p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036F9-EEBE-4D49-D13A-FBA4E36DFD7B}"/>
              </a:ext>
            </a:extLst>
          </p:cNvPr>
          <p:cNvSpPr txBox="1"/>
          <p:nvPr/>
        </p:nvSpPr>
        <p:spPr>
          <a:xfrm>
            <a:off x="7203202" y="6267714"/>
            <a:ext cx="48221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(A picture of a Travel Power Plug Adapter (UK to US))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1766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A06A-24D2-9CEF-9C38-C55B63BE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1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E" altLang="zh-CN" sz="2800" b="1" dirty="0"/>
              <a:t>Adapter Code Example</a:t>
            </a:r>
            <a:br>
              <a:rPr lang="en-IE" altLang="zh-CN" sz="2800" b="1" dirty="0"/>
            </a:br>
            <a:r>
              <a:rPr lang="en-US" altLang="zh-CN" sz="1800" b="1" dirty="0"/>
              <a:t>Goal:</a:t>
            </a:r>
            <a:r>
              <a:rPr lang="en-US" altLang="zh-CN" sz="1800" dirty="0"/>
              <a:t> Show how we "wrap" a Euro plug to look like a US Socket.</a:t>
            </a:r>
            <a:endParaRPr lang="en-IE" altLang="zh-CN" sz="28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DB0C2-05ED-7C52-4B87-F77621A99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8152" y="1234913"/>
            <a:ext cx="4487159" cy="55382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// 1. The Target Interface (What the client expects)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interface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USSocket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void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plugInUSA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IE" altLang="zh-CN" sz="100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// 2. The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Adaptee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 The incompatible class)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EuroLaptop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void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plugInEuro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 {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System.out.println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("Euro Power Connected"); }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IE" altLang="zh-CN" sz="100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// 3. The Adapter (Translates the calls)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TravelAdapter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implements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USSocket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private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EuroLaptop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device; // Composition</a:t>
            </a:r>
          </a:p>
          <a:p>
            <a:pPr marL="0" indent="0">
              <a:buNone/>
            </a:pPr>
            <a:endParaRPr lang="en-IE" altLang="zh-CN" sz="100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public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TravelAdapter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EuroLaptop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device) {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this.device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device;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pPr marL="0" indent="0">
              <a:buNone/>
            </a:pPr>
            <a:endParaRPr lang="en-IE" altLang="zh-CN" sz="100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@Override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public void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plugInUSA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 {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// Calls the incompatible method internally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IE" altLang="zh-CN" sz="100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device.plugInEuro</a:t>
            </a: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(); 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IE" altLang="zh-CN" sz="10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CN" altLang="en-US" sz="100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2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2EEB-FA23-2BBA-5F29-CFDA03015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000" b="1" dirty="0"/>
              <a:t>Pattern 2 – The Decorator Pattern</a:t>
            </a:r>
            <a:br>
              <a:rPr lang="en-US" altLang="zh-CN" b="1" dirty="0"/>
            </a:br>
            <a:r>
              <a:rPr lang="en-IE" altLang="zh-CN" sz="2000" dirty="0"/>
              <a:t>Adding Responsibilities Dynamically</a:t>
            </a:r>
            <a:endParaRPr lang="zh-CN" alt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41DA29-80AA-790F-B802-8DB3CA642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95" y="1879927"/>
            <a:ext cx="4780869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F085FF-7667-7E24-9A12-CD85B8E26633}"/>
              </a:ext>
            </a:extLst>
          </p:cNvPr>
          <p:cNvSpPr txBox="1"/>
          <p:nvPr/>
        </p:nvSpPr>
        <p:spPr>
          <a:xfrm>
            <a:off x="188536" y="1690688"/>
            <a:ext cx="59074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Key Points: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Purpose:</a:t>
            </a:r>
            <a:r>
              <a:rPr lang="en-US" altLang="zh-CN" dirty="0"/>
              <a:t> Attaches new behaviors to an object at runtime by wrapping it inside a "wrapper" object.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Key Principle:</a:t>
            </a:r>
            <a:r>
              <a:rPr lang="en-US" altLang="zh-CN" dirty="0"/>
              <a:t> </a:t>
            </a:r>
            <a:r>
              <a:rPr lang="en-US" altLang="zh-CN" b="1" dirty="0"/>
              <a:t>The Open/Closed Principle</a:t>
            </a:r>
            <a:r>
              <a:rPr lang="en-US" altLang="zh-CN" dirty="0"/>
              <a:t>. Classes should be open for extension, but closed for modification.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Software Application: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Java I/O Streams (new </a:t>
            </a:r>
            <a:r>
              <a:rPr lang="en-US" altLang="zh-CN" dirty="0" err="1"/>
              <a:t>BufferedReader</a:t>
            </a:r>
            <a:r>
              <a:rPr lang="en-US" altLang="zh-CN" dirty="0"/>
              <a:t>(new </a:t>
            </a:r>
            <a:r>
              <a:rPr lang="en-US" altLang="zh-CN" dirty="0" err="1"/>
              <a:t>InputStreamReader</a:t>
            </a:r>
            <a:r>
              <a:rPr lang="en-US" altLang="zh-CN" dirty="0"/>
              <a:t>(System.in))).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UI toolkits (Adding a "Scrollbar" to a "</a:t>
            </a:r>
            <a:r>
              <a:rPr lang="en-US" altLang="zh-CN" dirty="0" err="1"/>
              <a:t>TextBox</a:t>
            </a:r>
            <a:r>
              <a:rPr lang="en-US" altLang="zh-CN" dirty="0"/>
              <a:t>").</a:t>
            </a:r>
          </a:p>
          <a:p>
            <a:pPr lvl="1"/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Alternative to Subclassing:</a:t>
            </a:r>
            <a:r>
              <a:rPr lang="en-US" altLang="zh-CN" dirty="0"/>
              <a:t> Prevents an "explosion" of subclasses (e.g., </a:t>
            </a:r>
            <a:r>
              <a:rPr lang="en-US" altLang="zh-CN" dirty="0" err="1"/>
              <a:t>textWithBorderAndScrollbarAndShadow</a:t>
            </a:r>
            <a:r>
              <a:rPr lang="en-US" altLang="zh-CN" dirty="0"/>
              <a:t>). You just decorate the base object.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3C7A2-F404-9CEE-0D40-C0F608034FC9}"/>
              </a:ext>
            </a:extLst>
          </p:cNvPr>
          <p:cNvSpPr txBox="1"/>
          <p:nvPr/>
        </p:nvSpPr>
        <p:spPr>
          <a:xfrm>
            <a:off x="7222595" y="6231264"/>
            <a:ext cx="478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(A basic coffee cup with arrows pointing to add-ons (whip cream, sugar, cinnamon) or Russian Matryoshka dolls.)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4716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DB37-46B9-7891-9828-2ABBF47F8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785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E" altLang="zh-CN" sz="2800" b="1" dirty="0"/>
              <a:t>Decorator Code Example</a:t>
            </a:r>
            <a:br>
              <a:rPr lang="en-IE" altLang="zh-CN" sz="1600" b="1" dirty="0"/>
            </a:br>
            <a:r>
              <a:rPr lang="en-US" altLang="zh-CN" sz="1800" b="1" dirty="0"/>
              <a:t>Goal:</a:t>
            </a:r>
            <a:r>
              <a:rPr lang="en-US" altLang="zh-CN" sz="1800" dirty="0"/>
              <a:t> Show how we calculate the cost of coffee + milk without changing the original Coffee class.</a:t>
            </a:r>
            <a:br>
              <a:rPr lang="en-IE" altLang="zh-CN" sz="2400" b="1" dirty="0"/>
            </a:br>
            <a:endParaRPr lang="zh-CN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2524E-AFBA-F0BB-28CC-94C4CFE8E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214" y="901797"/>
            <a:ext cx="3441571" cy="6281427"/>
          </a:xfrm>
        </p:spPr>
        <p:txBody>
          <a:bodyPr>
            <a:noAutofit/>
          </a:bodyPr>
          <a:lstStyle/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// 1. The Interface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interface Coffee {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double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getCost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();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}</a:t>
            </a:r>
          </a:p>
          <a:p>
            <a:endParaRPr lang="en-IE" altLang="zh-CN" sz="700" b="1" dirty="0">
              <a:solidFill>
                <a:srgbClr val="FF0000"/>
              </a:solidFill>
              <a:latin typeface="Cascadia Code" panose="020B0609020000020004" pitchFamily="49" charset="0"/>
              <a:ea typeface="Calibri" panose="020F0502020204030204" pitchFamily="34" charset="0"/>
              <a:cs typeface="Cascadia Code" panose="020B0609020000020004" pitchFamily="49" charset="0"/>
            </a:endParaRP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// 2. The Base Implementation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class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SimpleCoffee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implements Coffee {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public double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getCost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() { return 5.00; }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}</a:t>
            </a:r>
          </a:p>
          <a:p>
            <a:endParaRPr lang="en-IE" altLang="zh-CN" sz="700" b="1" dirty="0">
              <a:solidFill>
                <a:srgbClr val="FF0000"/>
              </a:solidFill>
              <a:latin typeface="Cascadia Code" panose="020B0609020000020004" pitchFamily="49" charset="0"/>
              <a:ea typeface="Calibri" panose="020F0502020204030204" pitchFamily="34" charset="0"/>
              <a:cs typeface="Cascadia Code" panose="020B0609020000020004" pitchFamily="49" charset="0"/>
            </a:endParaRP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// 3. The Decorator (Adds functionality)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class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MilkDecorator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implements Coffee {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private Coffee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coffee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; // Stores the object being decorated</a:t>
            </a:r>
          </a:p>
          <a:p>
            <a:endParaRPr lang="en-IE" altLang="zh-CN" sz="700" b="1" dirty="0">
              <a:solidFill>
                <a:srgbClr val="FF0000"/>
              </a:solidFill>
              <a:latin typeface="Cascadia Code" panose="020B0609020000020004" pitchFamily="49" charset="0"/>
              <a:ea typeface="Calibri" panose="020F0502020204030204" pitchFamily="34" charset="0"/>
              <a:cs typeface="Cascadia Code" panose="020B0609020000020004" pitchFamily="49" charset="0"/>
            </a:endParaRP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public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MilkDecorator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(Coffee coffee) {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   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this.coffee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= coffee;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}</a:t>
            </a:r>
          </a:p>
          <a:p>
            <a:endParaRPr lang="en-IE" altLang="zh-CN" sz="700" b="1" dirty="0">
              <a:solidFill>
                <a:srgbClr val="FF0000"/>
              </a:solidFill>
              <a:latin typeface="Cascadia Code" panose="020B0609020000020004" pitchFamily="49" charset="0"/>
              <a:ea typeface="Calibri" panose="020F0502020204030204" pitchFamily="34" charset="0"/>
              <a:cs typeface="Cascadia Code" panose="020B0609020000020004" pitchFamily="49" charset="0"/>
            </a:endParaRP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public double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getCost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() {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    // Adds its own cost (1.50) to the wrapped object's cost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    return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this.coffee.getCost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() + 1.50;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    }</a:t>
            </a: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}</a:t>
            </a:r>
          </a:p>
          <a:p>
            <a:endParaRPr lang="en-IE" altLang="zh-CN" sz="700" b="1" dirty="0">
              <a:solidFill>
                <a:srgbClr val="FF0000"/>
              </a:solidFill>
              <a:latin typeface="Cascadia Code" panose="020B0609020000020004" pitchFamily="49" charset="0"/>
              <a:ea typeface="Calibri" panose="020F0502020204030204" pitchFamily="34" charset="0"/>
              <a:cs typeface="Cascadia Code" panose="020B0609020000020004" pitchFamily="49" charset="0"/>
            </a:endParaRPr>
          </a:p>
          <a:p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// Usage: new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MilkDecorator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(new </a:t>
            </a:r>
            <a:r>
              <a:rPr lang="en-IE" altLang="zh-CN" sz="700" b="1" dirty="0" err="1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SimpleCoffee</a:t>
            </a:r>
            <a:r>
              <a:rPr lang="en-IE" altLang="zh-CN" sz="700" b="1" dirty="0">
                <a:solidFill>
                  <a:srgbClr val="FF0000"/>
                </a:solidFill>
                <a:latin typeface="Cascadia Code" panose="020B0609020000020004" pitchFamily="49" charset="0"/>
                <a:ea typeface="Calibri" panose="020F0502020204030204" pitchFamily="34" charset="0"/>
                <a:cs typeface="Cascadia Code" panose="020B0609020000020004" pitchFamily="49" charset="0"/>
              </a:rPr>
              <a:t>()); // Returns 6.50</a:t>
            </a:r>
            <a:endParaRPr lang="zh-CN" altLang="en-US" sz="70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92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AF4C-8898-A9CE-B3A1-076F5D4D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Pattern 3 – The Facade Pattern</a:t>
            </a:r>
            <a:br>
              <a:rPr lang="en-US" altLang="zh-CN" b="1" dirty="0"/>
            </a:br>
            <a:r>
              <a:rPr lang="en-US" altLang="zh-CN" sz="2000" dirty="0"/>
              <a:t>Simplified Interface to a Complex Subsystem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1632E7-EDC8-7E17-4D20-0D4AF7633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346" y="1916112"/>
            <a:ext cx="476552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2150EB-BED9-5906-A6BB-4EE44FB71A62}"/>
              </a:ext>
            </a:extLst>
          </p:cNvPr>
          <p:cNvSpPr txBox="1"/>
          <p:nvPr/>
        </p:nvSpPr>
        <p:spPr>
          <a:xfrm>
            <a:off x="381431" y="1916112"/>
            <a:ext cx="60271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Key Points: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Purpose:</a:t>
            </a:r>
            <a:r>
              <a:rPr lang="en-US" altLang="zh-CN" dirty="0"/>
              <a:t> Provides a simplified interface to a library, a framework, or any other complex set of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Benefits: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Reduces dependencies between the client and the complex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Isolates complexity.</a:t>
            </a:r>
          </a:p>
          <a:p>
            <a:pPr lvl="1"/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Software Application:</a:t>
            </a:r>
            <a:endParaRPr lang="en-US" altLang="zh-CN" dirty="0"/>
          </a:p>
          <a:p>
            <a:pPr lvl="1"/>
            <a:r>
              <a:rPr lang="en-US" altLang="zh-CN" dirty="0"/>
              <a:t>A </a:t>
            </a:r>
            <a:r>
              <a:rPr lang="en-US" altLang="zh-CN" dirty="0" err="1"/>
              <a:t>VideoConverter</a:t>
            </a:r>
            <a:r>
              <a:rPr lang="en-US" altLang="zh-CN" dirty="0"/>
              <a:t> class that hides the complex logic of codecs, bitrates, and audio buffers behind a simple convert(filename, format) method.</a:t>
            </a:r>
          </a:p>
          <a:p>
            <a:pPr lvl="1"/>
            <a:r>
              <a:rPr lang="en-US" altLang="zh-CN" dirty="0"/>
              <a:t>Interacting with a complex database API.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BC921D-58F3-23E6-CE0E-D2DA8184A411}"/>
              </a:ext>
            </a:extLst>
          </p:cNvPr>
          <p:cNvSpPr txBox="1"/>
          <p:nvPr/>
        </p:nvSpPr>
        <p:spPr>
          <a:xfrm>
            <a:off x="7282347" y="6273225"/>
            <a:ext cx="4765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(A complicated car engine covered by a simple hood with a single "Start" button.)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1797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D8CB-A045-F958-213B-870A257E7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62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E" altLang="zh-CN" sz="2800" b="1" dirty="0"/>
              <a:t>Facade Code Example</a:t>
            </a:r>
            <a:br>
              <a:rPr lang="en-IE" altLang="zh-CN" b="1" dirty="0"/>
            </a:br>
            <a:r>
              <a:rPr lang="en-US" altLang="zh-CN" sz="2000" b="1" dirty="0"/>
              <a:t>Goal:</a:t>
            </a:r>
            <a:r>
              <a:rPr lang="en-US" altLang="zh-CN" sz="2000" dirty="0"/>
              <a:t> Show how 3 complex system calls are hidden behind 1 simple method.</a:t>
            </a:r>
            <a:endParaRPr lang="zh-CN" alt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42D2-C0E1-696C-BC43-831B596D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273" y="769821"/>
            <a:ext cx="3491453" cy="6413403"/>
          </a:xfrm>
        </p:spPr>
        <p:txBody>
          <a:bodyPr>
            <a:noAutofit/>
          </a:bodyPr>
          <a:lstStyle/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// 1. The Complex Subsystems (The "Mess")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DVDRom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 void load() { ... } }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 Projector { void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turnOn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 { ... } }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SurroundSound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 void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setVolume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(int v) { ... } }</a:t>
            </a:r>
          </a:p>
          <a:p>
            <a:endParaRPr lang="en-IE" altLang="zh-CN" sz="105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// 2. The Facade ( The Simple Button)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HomeTheaterFacade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private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DVDRom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dvd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new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DVDRom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private Projector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projector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new Projector();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private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SurroundSound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audio = new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SurroundSound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endParaRPr lang="en-IE" altLang="zh-CN" sz="105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// One simple method calls the complex subsystem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public void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watchMovie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 {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dvd.load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projector.turnOn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audio.setVolume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(5);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IE" altLang="zh-CN" sz="1050" b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System.out.println</a:t>
            </a:r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("Movie started easily!");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r>
              <a:rPr lang="en-IE" altLang="zh-CN" sz="105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zh-CN" altLang="en-US" sz="1050" b="1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2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BB4F-6D8B-97E6-9AA4-F9E698C6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altLang="zh-CN" sz="4000" b="1" dirty="0"/>
              <a:t>Comparison – Don't Confuse Them!</a:t>
            </a:r>
            <a:br>
              <a:rPr lang="en-IE" altLang="zh-CN" b="1" dirty="0"/>
            </a:br>
            <a:endParaRPr lang="zh-CN" alt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2F3305A-CD18-A1AF-1DFE-5C6B2A16E5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070926"/>
              </p:ext>
            </p:extLst>
          </p:nvPr>
        </p:nvGraphicFramePr>
        <p:xfrm>
          <a:off x="838199" y="1946931"/>
          <a:ext cx="10515600" cy="32740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304171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077151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67045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E" b="1" dirty="0">
                          <a:effectLst/>
                          <a:latin typeface="Inter"/>
                        </a:rPr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IE" b="1" dirty="0">
                          <a:effectLst/>
                          <a:latin typeface="Inter"/>
                        </a:rPr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E" b="1" dirty="0">
                          <a:effectLst/>
                          <a:latin typeface="Inter"/>
                        </a:rPr>
                        <a:t>Key characteristic</a:t>
                      </a: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IE" b="1" dirty="0">
                        <a:effectLst/>
                        <a:latin typeface="Inter"/>
                      </a:endParaRP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IE" b="1" dirty="0">
                        <a:effectLst/>
                        <a:latin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36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E" b="1" dirty="0">
                          <a:effectLst/>
                          <a:latin typeface="Inter"/>
                        </a:rPr>
                        <a:t>Adapter</a:t>
                      </a:r>
                      <a:endParaRPr lang="en-IE" b="0" dirty="0">
                        <a:effectLst/>
                        <a:latin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IE" b="0" dirty="0">
                          <a:effectLst/>
                          <a:latin typeface="Inter"/>
                        </a:rPr>
                        <a:t>Compatibility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Inter"/>
                        </a:rPr>
                        <a:t>Converts one interface to another so they fit.</a:t>
                      </a: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US" b="0" dirty="0">
                        <a:effectLst/>
                        <a:latin typeface="Inter"/>
                      </a:endParaRP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74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E" b="1" dirty="0">
                          <a:effectLst/>
                          <a:latin typeface="Inter"/>
                        </a:rPr>
                        <a:t>Decorator</a:t>
                      </a:r>
                      <a:endParaRPr lang="en-IE" b="0" dirty="0">
                        <a:effectLst/>
                        <a:latin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IE" b="0" dirty="0">
                          <a:effectLst/>
                          <a:latin typeface="Inter"/>
                        </a:rPr>
                        <a:t>Extensibility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Inter"/>
                        </a:rPr>
                        <a:t>Adds extra responsibilities/behaviors without changing code.</a:t>
                      </a: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US" b="0" dirty="0">
                        <a:effectLst/>
                        <a:latin typeface="Inter"/>
                      </a:endParaRP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US" b="0" dirty="0">
                        <a:effectLst/>
                        <a:latin typeface="Inter"/>
                      </a:endParaRP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endParaRPr lang="en-US" b="0" dirty="0">
                        <a:effectLst/>
                        <a:latin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042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IE" b="1">
                          <a:effectLst/>
                          <a:latin typeface="Inter"/>
                        </a:rPr>
                        <a:t>Facade</a:t>
                      </a:r>
                      <a:endParaRPr lang="en-IE" b="0">
                        <a:effectLst/>
                        <a:latin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IE" b="0" dirty="0">
                          <a:effectLst/>
                          <a:latin typeface="Inter"/>
                        </a:rPr>
                        <a:t>Simplicity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Inter"/>
                        </a:rPr>
                        <a:t>Simplifies a complex interface (wraps many classes into one).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16994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9F1F3102-E6AD-03C9-71E7-F5BDDAB39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>
                <a:ln>
                  <a:noFill/>
                </a:ln>
                <a:solidFill>
                  <a:srgbClr val="E2E2E5"/>
                </a:solidFill>
                <a:effectLst/>
                <a:latin typeface="Arial" panose="020B0604020202020204" pitchFamily="34" charset="0"/>
                <a:ea typeface="Inter"/>
              </a:rPr>
              <a:t>Content (Table):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CCC95-87A8-68DE-A6AB-D5212B1C9271}"/>
              </a:ext>
            </a:extLst>
          </p:cNvPr>
          <p:cNvSpPr txBox="1"/>
          <p:nvPr/>
        </p:nvSpPr>
        <p:spPr>
          <a:xfrm>
            <a:off x="838199" y="5542961"/>
            <a:ext cx="10271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Note:</a:t>
            </a:r>
            <a:r>
              <a:rPr lang="en-US" altLang="zh-CN" dirty="0"/>
              <a:t> All three are "Wrappers," but their </a:t>
            </a:r>
            <a:r>
              <a:rPr lang="en-US" altLang="zh-CN" b="1" dirty="0"/>
              <a:t>intent</a:t>
            </a:r>
            <a:r>
              <a:rPr lang="en-US" altLang="zh-CN" dirty="0"/>
              <a:t> is what differentiates them.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287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C602-CB0C-A225-FEBE-10EE7B0C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altLang="zh-CN" sz="4000" b="1" dirty="0"/>
              <a:t>Conceptual Question </a:t>
            </a:r>
            <a:br>
              <a:rPr lang="en-IE" altLang="zh-CN" b="1" dirty="0"/>
            </a:b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13BC2-B49E-CFEB-F87A-BEABB932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Q1: What is the primary difference between the Adapter and the Decorator pattern?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r>
              <a:rPr lang="en-US" altLang="zh-CN" b="1" dirty="0"/>
              <a:t>Q2: Which SOLID principle is the primary driver for the Decorator pattern?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7791B-59F2-B164-9F86-12B9F883A45B}"/>
              </a:ext>
            </a:extLst>
          </p:cNvPr>
          <p:cNvSpPr txBox="1"/>
          <p:nvPr/>
        </p:nvSpPr>
        <p:spPr>
          <a:xfrm>
            <a:off x="1395166" y="2967335"/>
            <a:ext cx="9737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Answer:</a:t>
            </a:r>
            <a:r>
              <a:rPr lang="en-US" altLang="zh-CN" dirty="0"/>
              <a:t> The </a:t>
            </a:r>
            <a:r>
              <a:rPr lang="en-US" altLang="zh-CN" b="1" dirty="0"/>
              <a:t>Adapter</a:t>
            </a:r>
            <a:r>
              <a:rPr lang="en-US" altLang="zh-CN" dirty="0"/>
              <a:t> pattern is used to make incompatible interfaces work together (changing the interface), whereas the </a:t>
            </a:r>
            <a:r>
              <a:rPr lang="en-US" altLang="zh-CN" b="1" dirty="0"/>
              <a:t>Decorator</a:t>
            </a:r>
            <a:r>
              <a:rPr lang="en-US" altLang="zh-CN" dirty="0"/>
              <a:t> pattern is used to add new behaviors or responsibilities to an object dynamically (keeping the interface the same).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5CC04-8A8C-4F80-9544-490E654DDA53}"/>
              </a:ext>
            </a:extLst>
          </p:cNvPr>
          <p:cNvSpPr txBox="1"/>
          <p:nvPr/>
        </p:nvSpPr>
        <p:spPr>
          <a:xfrm>
            <a:off x="1377884" y="5279009"/>
            <a:ext cx="9436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Answer:</a:t>
            </a:r>
            <a:r>
              <a:rPr lang="en-US" altLang="zh-CN" dirty="0"/>
              <a:t> The </a:t>
            </a:r>
            <a:r>
              <a:rPr lang="en-US" altLang="zh-CN" b="1" dirty="0"/>
              <a:t>Open/Closed Principle</a:t>
            </a:r>
            <a:r>
              <a:rPr lang="en-US" altLang="zh-CN" dirty="0"/>
              <a:t>. It allows you to extend an object's behavior (open for extension) without modifying the original class source code (closed for modification).</a:t>
            </a:r>
          </a:p>
        </p:txBody>
      </p:sp>
    </p:spTree>
    <p:extLst>
      <p:ext uri="{BB962C8B-B14F-4D97-AF65-F5344CB8AC3E}">
        <p14:creationId xmlns:p14="http://schemas.microsoft.com/office/powerpoint/2010/main" val="31938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EDEC-53F5-8548-4B81-CAFCB9A45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altLang="zh-CN" sz="4000" b="1" dirty="0"/>
              <a:t>Question based scenario </a:t>
            </a:r>
            <a:endParaRPr lang="zh-CN" alt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04D38-CBE7-E99A-4E8E-2946ACF48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Q3: You have a complex system with 50 classes for video processing. You want junior developers to be able to use this system without understanding the underlying complexity. Which pattern should you use?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Q4: True or False: The Adapter pattern typically wraps a "legacy" class to look like a "modern" class.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CCFCD-A2A8-531E-8895-350C0D1881DD}"/>
              </a:ext>
            </a:extLst>
          </p:cNvPr>
          <p:cNvSpPr txBox="1"/>
          <p:nvPr/>
        </p:nvSpPr>
        <p:spPr>
          <a:xfrm>
            <a:off x="1055802" y="3645815"/>
            <a:ext cx="9794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Answer:</a:t>
            </a:r>
            <a:r>
              <a:rPr lang="en-US" altLang="zh-CN" dirty="0"/>
              <a:t> The </a:t>
            </a:r>
            <a:r>
              <a:rPr lang="en-US" altLang="zh-CN" b="1" dirty="0"/>
              <a:t>Facade Pattern</a:t>
            </a:r>
            <a:r>
              <a:rPr lang="en-US" altLang="zh-CN" dirty="0"/>
              <a:t>. It creates a single entry point that handles the delegation to the complex subsystem.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B0E6E-73C8-DCF0-76AA-FA47A6A33D88}"/>
              </a:ext>
            </a:extLst>
          </p:cNvPr>
          <p:cNvSpPr txBox="1"/>
          <p:nvPr/>
        </p:nvSpPr>
        <p:spPr>
          <a:xfrm>
            <a:off x="1055802" y="5665569"/>
            <a:ext cx="9266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Answer:</a:t>
            </a:r>
            <a:r>
              <a:rPr lang="en-US" altLang="zh-CN" dirty="0"/>
              <a:t> </a:t>
            </a:r>
            <a:r>
              <a:rPr lang="en-US" altLang="zh-CN" b="1" dirty="0"/>
              <a:t>True</a:t>
            </a:r>
            <a:r>
              <a:rPr lang="en-US" altLang="zh-CN" dirty="0"/>
              <a:t>. It adapts the interface of the "legacy" class (</a:t>
            </a:r>
            <a:r>
              <a:rPr lang="en-US" altLang="zh-CN" dirty="0" err="1"/>
              <a:t>adaptee</a:t>
            </a:r>
            <a:r>
              <a:rPr lang="en-US" altLang="zh-CN" dirty="0"/>
              <a:t>) to match the "target" interface expected by the modern client.</a:t>
            </a:r>
          </a:p>
        </p:txBody>
      </p:sp>
    </p:spTree>
    <p:extLst>
      <p:ext uri="{BB962C8B-B14F-4D97-AF65-F5344CB8AC3E}">
        <p14:creationId xmlns:p14="http://schemas.microsoft.com/office/powerpoint/2010/main" val="102299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D2EC-0B36-4B1F-5F19-57A4468F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altLang="zh-CN" sz="4000" b="1" dirty="0"/>
              <a:t>Summary &amp; Best Practices</a:t>
            </a:r>
            <a:br>
              <a:rPr lang="en-IE" altLang="zh-CN" b="1" dirty="0"/>
            </a:b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022E-1A3A-E474-3AD0-42BDBDBBA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Composition over Inheritance:</a:t>
            </a:r>
            <a:r>
              <a:rPr lang="en-US" altLang="zh-CN" dirty="0"/>
              <a:t> Structural patterns generally prefer object composition (wrapping) over inheritance. This makes systems less rigid.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b="1" dirty="0"/>
              <a:t>Don't Overuse:</a:t>
            </a:r>
            <a:r>
              <a:rPr lang="en-US" altLang="zh-CN" dirty="0"/>
              <a:t> Do not wrap objects just for the sake of it.</a:t>
            </a:r>
          </a:p>
          <a:p>
            <a:pPr lvl="1"/>
            <a:r>
              <a:rPr lang="en-US" altLang="zh-CN" dirty="0"/>
              <a:t>Use </a:t>
            </a:r>
            <a:r>
              <a:rPr lang="en-US" altLang="zh-CN" b="1" dirty="0"/>
              <a:t>Facade</a:t>
            </a:r>
            <a:r>
              <a:rPr lang="en-US" altLang="zh-CN" dirty="0"/>
              <a:t> when the system is too complex.</a:t>
            </a:r>
          </a:p>
          <a:p>
            <a:pPr lvl="1"/>
            <a:r>
              <a:rPr lang="en-US" altLang="zh-CN" dirty="0"/>
              <a:t>Use </a:t>
            </a:r>
            <a:r>
              <a:rPr lang="en-US" altLang="zh-CN" b="1" dirty="0"/>
              <a:t>Adapter</a:t>
            </a:r>
            <a:r>
              <a:rPr lang="en-US" altLang="zh-CN" dirty="0"/>
              <a:t> when you can't change existing code to fit new needs.</a:t>
            </a:r>
          </a:p>
          <a:p>
            <a:pPr lvl="1"/>
            <a:r>
              <a:rPr lang="en-US" altLang="zh-CN" dirty="0"/>
              <a:t>Use </a:t>
            </a:r>
            <a:r>
              <a:rPr lang="en-US" altLang="zh-CN" b="1" dirty="0"/>
              <a:t>Decorator</a:t>
            </a:r>
            <a:r>
              <a:rPr lang="en-US" altLang="zh-CN" dirty="0"/>
              <a:t> when you need many combinations of features.</a:t>
            </a:r>
          </a:p>
          <a:p>
            <a:pPr marL="0" indent="0">
              <a:buNone/>
            </a:pP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714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5B79-018A-9B90-9532-2059BA32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altLang="zh-CN" sz="4000" b="1" dirty="0"/>
              <a:t>Q&amp;A / Discussion</a:t>
            </a:r>
            <a:br>
              <a:rPr lang="en-IE" altLang="zh-CN" b="1" dirty="0"/>
            </a:b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972E3-DCE3-FC40-9FE2-53D0BD53F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zh-CN" b="1" dirty="0"/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r>
              <a:rPr lang="en-US" altLang="zh-CN" sz="3200" b="1" dirty="0"/>
              <a:t>Floor open for questions.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References:</a:t>
            </a:r>
          </a:p>
          <a:p>
            <a:pPr lvl="1"/>
            <a:r>
              <a:rPr lang="en-US" altLang="zh-CN" sz="2000" dirty="0"/>
              <a:t>"Design Patterns: Elements of Reusable Object-Oriented Software" (Gang of Four)</a:t>
            </a:r>
          </a:p>
          <a:p>
            <a:pPr lvl="1"/>
            <a:r>
              <a:rPr lang="en-US" altLang="zh-CN" sz="2000" dirty="0"/>
              <a:t>"Clean Code" by Robert C. Martin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392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1325</Words>
  <Application>Microsoft Office PowerPoint</Application>
  <PresentationFormat>Widescreen</PresentationFormat>
  <Paragraphs>175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Inter</vt:lpstr>
      <vt:lpstr>Arial</vt:lpstr>
      <vt:lpstr>Cascadia Code</vt:lpstr>
      <vt:lpstr>Office Theme</vt:lpstr>
      <vt:lpstr>Structural Patterns in Practice: Adapter, Decorator, and Facade</vt:lpstr>
      <vt:lpstr>Introduction to Structural Patterns </vt:lpstr>
      <vt:lpstr> Pattern 1 – The Adapter Pattern Making Incompatible Interfaces Compatible </vt:lpstr>
      <vt:lpstr>Adapter Code Example Goal: Show how we "wrap" a Euro plug to look like a US Socket.</vt:lpstr>
      <vt:lpstr>Pattern 2 – The Decorator Pattern Adding Responsibilities Dynamically</vt:lpstr>
      <vt:lpstr>Decorator Code Example Goal: Show how we calculate the cost of coffee + milk without changing the original Coffee class. </vt:lpstr>
      <vt:lpstr>Pattern 3 – The Facade Pattern Simplified Interface to a Complex Subsystem</vt:lpstr>
      <vt:lpstr>Facade Code Example Goal: Show how 3 complex system calls are hidden behind 1 simple method.</vt:lpstr>
      <vt:lpstr>Comparison – Don't Confuse Them! </vt:lpstr>
      <vt:lpstr>Conceptual Question  </vt:lpstr>
      <vt:lpstr>Question based scenario </vt:lpstr>
      <vt:lpstr>Summary &amp; Best Practices </vt:lpstr>
      <vt:lpstr>Q&amp;A / 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 Tang</dc:creator>
  <cp:lastModifiedBy>Wu Tang</cp:lastModifiedBy>
  <cp:revision>14</cp:revision>
  <dcterms:created xsi:type="dcterms:W3CDTF">2025-11-18T21:31:27Z</dcterms:created>
  <dcterms:modified xsi:type="dcterms:W3CDTF">2025-11-19T00:53:30Z</dcterms:modified>
</cp:coreProperties>
</file>